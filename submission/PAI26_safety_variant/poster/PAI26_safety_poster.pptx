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945600" cx="32918400"/>
  <p:notesSz cx="6858000" cy="9144000"/>
  <p:embeddedFontLst>
    <p:embeddedFont>
      <p:font typeface="Source Sans 3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p7xK3M1Wg60Vn71kgQyjzwglL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SourceSans3-regular.fntdata"/><Relationship Id="rId7" Type="http://schemas.openxmlformats.org/officeDocument/2006/relationships/font" Target="fonts/SourceSans3-bold.fntdata"/><Relationship Id="rId8" Type="http://schemas.openxmlformats.org/officeDocument/2006/relationships/font" Target="fonts/SourceSans3-italic.fntdata"/><Relationship Id="rId9" Type="http://schemas.openxmlformats.org/officeDocument/2006/relationships/font" Target="fonts/SourceSans3-boldItalic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14425" y="1143000"/>
            <a:ext cx="462915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d82a0311f4_0_45:notes"/>
          <p:cNvSpPr/>
          <p:nvPr>
            <p:ph idx="2" type="sldImg"/>
          </p:nvPr>
        </p:nvSpPr>
        <p:spPr>
          <a:xfrm>
            <a:off x="1114425" y="1143000"/>
            <a:ext cx="4629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d82a0311f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g3d82a0311f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82a0311f4_0_70"/>
          <p:cNvSpPr txBox="1"/>
          <p:nvPr>
            <p:ph idx="1" type="subTitle"/>
          </p:nvPr>
        </p:nvSpPr>
        <p:spPr>
          <a:xfrm>
            <a:off x="4114800" y="11526522"/>
            <a:ext cx="24688800" cy="5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d82a0311f4_0_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625" y="19833222"/>
            <a:ext cx="3745550" cy="181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d82a0311f4_0_72"/>
          <p:cNvSpPr/>
          <p:nvPr/>
        </p:nvSpPr>
        <p:spPr>
          <a:xfrm>
            <a:off x="0" y="-15596"/>
            <a:ext cx="15475500" cy="2649300"/>
          </a:xfrm>
          <a:prstGeom prst="rect">
            <a:avLst/>
          </a:prstGeom>
          <a:gradFill>
            <a:gsLst>
              <a:gs pos="0">
                <a:srgbClr val="8C1515"/>
              </a:gs>
              <a:gs pos="12000">
                <a:srgbClr val="8C1515"/>
              </a:gs>
              <a:gs pos="100000">
                <a:srgbClr val="92278F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d82a0311f4_0_72"/>
          <p:cNvSpPr/>
          <p:nvPr/>
        </p:nvSpPr>
        <p:spPr>
          <a:xfrm>
            <a:off x="0" y="2600141"/>
            <a:ext cx="15471600" cy="3775200"/>
          </a:xfrm>
          <a:prstGeom prst="rect">
            <a:avLst/>
          </a:prstGeom>
          <a:solidFill>
            <a:srgbClr val="175E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d82a0311f4_0_72"/>
          <p:cNvSpPr/>
          <p:nvPr/>
        </p:nvSpPr>
        <p:spPr>
          <a:xfrm>
            <a:off x="11936" y="15125875"/>
            <a:ext cx="15471600" cy="4114800"/>
          </a:xfrm>
          <a:prstGeom prst="rect">
            <a:avLst/>
          </a:prstGeom>
          <a:solidFill>
            <a:srgbClr val="279989">
              <a:alpha val="1137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d82a0311f4_0_72"/>
          <p:cNvSpPr/>
          <p:nvPr/>
        </p:nvSpPr>
        <p:spPr>
          <a:xfrm>
            <a:off x="0" y="6411947"/>
            <a:ext cx="15471600" cy="8532600"/>
          </a:xfrm>
          <a:prstGeom prst="rect">
            <a:avLst/>
          </a:prstGeom>
          <a:solidFill>
            <a:srgbClr val="279989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82a0311f4_0_72"/>
          <p:cNvSpPr txBox="1"/>
          <p:nvPr/>
        </p:nvSpPr>
        <p:spPr>
          <a:xfrm flipH="1">
            <a:off x="430388" y="3511839"/>
            <a:ext cx="14008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&lt;1 sentence headline/title&gt;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sng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Keywords</a:t>
            </a:r>
            <a:r>
              <a:rPr b="0" i="1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: &lt;add 5-10 keywords&gt;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d82a0311f4_0_72"/>
          <p:cNvSpPr txBox="1"/>
          <p:nvPr/>
        </p:nvSpPr>
        <p:spPr>
          <a:xfrm>
            <a:off x="409825" y="-45417"/>
            <a:ext cx="11187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&lt;Scholar/Fellow&gt;</a:t>
            </a:r>
            <a:endParaRPr b="1" baseline="30000" i="0" sz="6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Dept. of &lt;Dept Name&gt; (G&lt;Year#&gt;)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Advised by &lt;Advisor&gt;, &lt;Advisor Dept&gt;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&lt;Your pronouns&gt;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d82a0311f4_0_72"/>
          <p:cNvSpPr/>
          <p:nvPr/>
        </p:nvSpPr>
        <p:spPr>
          <a:xfrm>
            <a:off x="28100702" y="18348073"/>
            <a:ext cx="159000" cy="3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d82a0311f4_0_72"/>
          <p:cNvSpPr/>
          <p:nvPr/>
        </p:nvSpPr>
        <p:spPr>
          <a:xfrm>
            <a:off x="8896504" y="196686"/>
            <a:ext cx="2676600" cy="200340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d82a0311f4_0_72"/>
          <p:cNvSpPr txBox="1"/>
          <p:nvPr/>
        </p:nvSpPr>
        <p:spPr>
          <a:xfrm>
            <a:off x="430358" y="15512441"/>
            <a:ext cx="14772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75E54"/>
                </a:solidFill>
                <a:latin typeface="Calibri"/>
                <a:ea typeface="Calibri"/>
                <a:cs typeface="Calibri"/>
                <a:sym typeface="Calibri"/>
              </a:rPr>
              <a:t>More about &lt;Scholar/Fellow&gt;</a:t>
            </a:r>
            <a:endParaRPr b="0" i="0" sz="1400" u="none" cap="none" strike="noStrike">
              <a:solidFill>
                <a:srgbClr val="175E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4335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Academic/industrial training, Current research, how you got into data science, Personal elevator pitch (~3 bullets)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4335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Another bullet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4335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Another bullet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C43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d82a0311f4_0_72"/>
          <p:cNvSpPr txBox="1"/>
          <p:nvPr/>
        </p:nvSpPr>
        <p:spPr>
          <a:xfrm>
            <a:off x="16258309" y="12373418"/>
            <a:ext cx="949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75E54"/>
                </a:solidFill>
                <a:latin typeface="Calibri"/>
                <a:ea typeface="Calibri"/>
                <a:cs typeface="Calibri"/>
                <a:sym typeface="Calibri"/>
              </a:rPr>
              <a:t>&lt;Title for panel&gt;</a:t>
            </a:r>
            <a:endParaRPr b="0" i="0" sz="1400" u="none" cap="none" strike="noStrike">
              <a:solidFill>
                <a:srgbClr val="175E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75E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d82a0311f4_0_72"/>
          <p:cNvSpPr txBox="1"/>
          <p:nvPr/>
        </p:nvSpPr>
        <p:spPr>
          <a:xfrm>
            <a:off x="16198503" y="447795"/>
            <a:ext cx="711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75E54"/>
                </a:solidFill>
                <a:latin typeface="Calibri"/>
                <a:ea typeface="Calibri"/>
                <a:cs typeface="Calibri"/>
                <a:sym typeface="Calibri"/>
              </a:rPr>
              <a:t>&lt;Title for panel&gt;</a:t>
            </a:r>
            <a:endParaRPr b="0" i="0" sz="1400" u="none" cap="none" strike="noStrike">
              <a:solidFill>
                <a:srgbClr val="175E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75E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d82a0311f4_0_72"/>
          <p:cNvSpPr txBox="1"/>
          <p:nvPr/>
        </p:nvSpPr>
        <p:spPr>
          <a:xfrm>
            <a:off x="576501" y="6824220"/>
            <a:ext cx="14396700" cy="7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75E54"/>
                </a:solidFill>
                <a:latin typeface="Calibri"/>
                <a:ea typeface="Calibri"/>
                <a:cs typeface="Calibri"/>
                <a:sym typeface="Calibri"/>
              </a:rPr>
              <a:t>Birds-eye view </a:t>
            </a:r>
            <a:endParaRPr b="0" i="0" sz="1400" u="none" cap="none" strike="noStrike">
              <a:solidFill>
                <a:srgbClr val="175E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applied: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4D3F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Background/Motivations/Goals centered around data (~3-5 bullets)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4D3F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Data Science Methods in simple terms (~3 bullets)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4D3F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E.g. Deep Learning architectures are evaluated, Datasets are generated with image processing pipelines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theory: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4D3F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Background/Motivations/Goals centered around methods (~3-5 bullets)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4D3F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Applications, even if potential/hypothetical (~3 bullets)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82a0311f4_0_72"/>
          <p:cNvSpPr txBox="1"/>
          <p:nvPr/>
        </p:nvSpPr>
        <p:spPr>
          <a:xfrm>
            <a:off x="4865480" y="19634700"/>
            <a:ext cx="10618200" cy="1569900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&lt;Add any other funding/institutions, then DELETE THIS&gt;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d82a0311f4_0_72"/>
          <p:cNvSpPr txBox="1"/>
          <p:nvPr/>
        </p:nvSpPr>
        <p:spPr>
          <a:xfrm>
            <a:off x="16246372" y="13230678"/>
            <a:ext cx="16425000" cy="2031900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applied: methods pipeline / graphical abstract </a:t>
            </a:r>
            <a:endParaRPr b="0" i="0" sz="3600" u="none" cap="none" strike="noStrike">
              <a:solidFill>
                <a:srgbClr val="2E2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theory: expanded methods graphics / depict hypothetical usage settings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d82a0311f4_0_72"/>
          <p:cNvSpPr txBox="1"/>
          <p:nvPr/>
        </p:nvSpPr>
        <p:spPr>
          <a:xfrm>
            <a:off x="16198504" y="1261531"/>
            <a:ext cx="16473000" cy="2031900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applied: dataset generation process + data preview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E2D29"/>
                </a:solidFill>
                <a:latin typeface="Calibri"/>
                <a:ea typeface="Calibri"/>
                <a:cs typeface="Calibri"/>
                <a:sym typeface="Calibri"/>
              </a:rPr>
              <a:t>If theory: methods pipeline / graphical abstract</a:t>
            </a:r>
            <a:endParaRPr b="0" i="0" sz="1400" u="none" cap="none" strike="noStrike">
              <a:solidFill>
                <a:srgbClr val="2E2D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82a0311f4_0_72"/>
          <p:cNvSpPr/>
          <p:nvPr/>
        </p:nvSpPr>
        <p:spPr>
          <a:xfrm>
            <a:off x="11910182" y="203342"/>
            <a:ext cx="2676600" cy="200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 code for profile (optional)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82a0311f4_0_66"/>
          <p:cNvSpPr txBox="1"/>
          <p:nvPr>
            <p:ph idx="1" type="body"/>
          </p:nvPr>
        </p:nvSpPr>
        <p:spPr>
          <a:xfrm>
            <a:off x="2263140" y="5842000"/>
            <a:ext cx="283920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97560" lvl="0" marL="4572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b="0" i="0" sz="8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16280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b="0" i="0" sz="7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35000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94360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94360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94360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94360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94360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94360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g3d82a0311f4_0_66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d82a0311f4_0_66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b="0" i="0" sz="38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g3d82a0311f4_0_45" title="Gradient line thi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7625"/>
            <a:ext cx="15471651" cy="295299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d82a0311f4_0_45"/>
          <p:cNvSpPr/>
          <p:nvPr/>
        </p:nvSpPr>
        <p:spPr>
          <a:xfrm>
            <a:off x="11936" y="15125875"/>
            <a:ext cx="15471600" cy="4114800"/>
          </a:xfrm>
          <a:prstGeom prst="rect">
            <a:avLst/>
          </a:prstGeom>
          <a:solidFill>
            <a:srgbClr val="279989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82a0311f4_0_45"/>
          <p:cNvSpPr/>
          <p:nvPr/>
        </p:nvSpPr>
        <p:spPr>
          <a:xfrm>
            <a:off x="0" y="2600141"/>
            <a:ext cx="15471600" cy="3775200"/>
          </a:xfrm>
          <a:prstGeom prst="rect">
            <a:avLst/>
          </a:prstGeom>
          <a:solidFill>
            <a:srgbClr val="175E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" name="Google Shape;43;g3d82a0311f4_0_45"/>
          <p:cNvSpPr/>
          <p:nvPr/>
        </p:nvSpPr>
        <p:spPr>
          <a:xfrm>
            <a:off x="0" y="6411947"/>
            <a:ext cx="15471600" cy="8532600"/>
          </a:xfrm>
          <a:prstGeom prst="rect">
            <a:avLst/>
          </a:prstGeom>
          <a:solidFill>
            <a:srgbClr val="279989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d82a0311f4_0_45"/>
          <p:cNvSpPr txBox="1"/>
          <p:nvPr/>
        </p:nvSpPr>
        <p:spPr>
          <a:xfrm flipH="1">
            <a:off x="430388" y="3511839"/>
            <a:ext cx="14008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5800"/>
              <a:buFont typeface="Arial"/>
              <a:buNone/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Can AI physics tutors be correct but incomplete?</a:t>
            </a:r>
            <a:endParaRPr b="0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>
              <a:spcAft>
                <a:spcPts val="300"/>
              </a:spcAft>
              <a:defRPr sz="1500" b="0" i="1">
                <a:solidFill>
                  <a:srgbClr val="FFFFFF"/>
                </a:solidFill>
                <a:latin typeface="Georgia"/>
              </a:defRPr>
            </a:pPr>
            <a:r>
              <a:t>Keywords: epistemic safety; AI tutoring; physics education; LLM evaluation; discourse analysis</a:t>
            </a:r>
          </a:p>
        </p:txBody>
      </p:sp>
      <p:sp>
        <p:nvSpPr>
          <p:cNvPr id="45" name="Google Shape;45;g3d82a0311f4_0_45"/>
          <p:cNvSpPr txBox="1"/>
          <p:nvPr/>
        </p:nvSpPr>
        <p:spPr>
          <a:xfrm>
            <a:off x="409825" y="-45417"/>
            <a:ext cx="11187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6600"/>
              <a:buFont typeface="Arial"/>
              <a:buNone/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Abdul Mohammad</a:t>
            </a:r>
            <a:endParaRPr b="1" baseline="30000" i="0" sz="6600" u="none" cap="none" strike="noStrike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>
              <a:spcAft>
                <a:spcPts val="300"/>
              </a:spcAft>
              <a:defRPr sz="1300" b="0" i="0">
                <a:solidFill>
                  <a:srgbClr val="FFFFFF"/>
                </a:solidFill>
                <a:latin typeface="Georgia"/>
              </a:defRPr>
            </a:pPr>
            <a:r>
              <a:t>English / Linguistics | AI safety, education evals, post-training</a:t>
            </a:r>
          </a:p>
          <a:p>
            <a:pPr>
              <a:spcAft>
                <a:spcPts val="300"/>
              </a:spcAft>
              <a:defRPr sz="1300" b="0" i="0">
                <a:solidFill>
                  <a:srgbClr val="FFFFFF"/>
                </a:solidFill>
                <a:latin typeface="Georgia"/>
              </a:defRPr>
            </a:pPr>
            <a:r>
              <a:t>Project: epistemic safety in AI physics tutors</a:t>
            </a:r>
          </a:p>
          <a:p>
            <a:pPr>
              <a:spcAft>
                <a:spcPts val="300"/>
              </a:spcAft>
              <a:defRPr sz="1200" b="0" i="0">
                <a:solidFill>
                  <a:srgbClr val="FFFFFF"/>
                </a:solidFill>
                <a:latin typeface="Georgia"/>
              </a:defRPr>
            </a:pPr>
            <a:r>
              <a:t>Open to research roles and internships in evals, alignment, or AI education</a:t>
            </a:r>
          </a:p>
        </p:txBody>
      </p:sp>
      <p:sp>
        <p:nvSpPr>
          <p:cNvPr id="46" name="Google Shape;46;g3d82a0311f4_0_45"/>
          <p:cNvSpPr/>
          <p:nvPr/>
        </p:nvSpPr>
        <p:spPr>
          <a:xfrm>
            <a:off x="8896504" y="196686"/>
            <a:ext cx="2676600" cy="200340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32" lIns="45720" spcFirstLastPara="1" rIns="45720" wrap="square" tIns="27432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400"/>
              <a:buFont typeface="Arial"/>
              <a:buNone/>
              <a:defRPr sz="1700" b="1" i="0">
                <a:solidFill>
                  <a:srgbClr val="FFFFFF"/>
                </a:solidFill>
                <a:latin typeface="Georgia"/>
              </a:defRPr>
            </a:pPr>
            <a:r>
              <a:t>contact</a:t>
            </a:r>
            <a:endParaRPr b="1" i="0" sz="1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>
              <a:spcAft>
                <a:spcPts val="300"/>
              </a:spcAft>
              <a:defRPr sz="1100" b="0" i="0">
                <a:solidFill>
                  <a:srgbClr val="FFFFFF"/>
                </a:solidFill>
                <a:latin typeface="Georgia"/>
              </a:defRPr>
            </a:pPr>
            <a:r>
              <a:t>email / LinkedIn</a:t>
            </a:r>
          </a:p>
        </p:txBody>
      </p:sp>
      <p:sp>
        <p:nvSpPr>
          <p:cNvPr id="47" name="Google Shape;47;g3d82a0311f4_0_45"/>
          <p:cNvSpPr txBox="1"/>
          <p:nvPr/>
        </p:nvSpPr>
        <p:spPr>
          <a:xfrm>
            <a:off x="430358" y="15512441"/>
            <a:ext cx="14772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800"/>
              <a:buFont typeface="Arial"/>
              <a:buNone/>
              <a:defRPr sz="2300" b="1" i="0">
                <a:solidFill>
                  <a:srgbClr val="000000"/>
                </a:solidFill>
                <a:latin typeface="Georgia"/>
              </a:defRPr>
            </a:pPr>
            <a:r>
              <a:t>Implications for AI tutors</a:t>
            </a:r>
            <a:endParaRPr b="0" i="0" sz="1400" u="none" cap="none" strike="noStrike">
              <a:solidFill>
                <a:srgbClr val="175E54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>
              <a:spcAft>
                <a:spcPts val="300"/>
              </a:spcAft>
              <a:defRPr sz="1700" b="0" i="0">
                <a:solidFill>
                  <a:srgbClr val="000000"/>
                </a:solidFill>
                <a:latin typeface="Georgia"/>
              </a:defRPr>
            </a:pPr>
            <a:r>
              <a:t>Use discourse labels as deployment checks: missing framing, examples, caveats, or misconception repair.</a:t>
            </a:r>
          </a:p>
          <a:p>
            <a:pPr>
              <a:spcAft>
                <a:spcPts val="300"/>
              </a:spcAft>
              <a:defRPr sz="1700" b="0" i="0">
                <a:solidFill>
                  <a:srgbClr val="000000"/>
                </a:solidFill>
                <a:latin typeface="Georgia"/>
              </a:defRPr>
            </a:pPr>
            <a:r>
              <a:t>Use the same labels as post-training signals for explanations that teach reasoning, not just answers.</a:t>
            </a:r>
          </a:p>
          <a:p>
            <a:pPr>
              <a:spcAft>
                <a:spcPts val="300"/>
              </a:spcAft>
              <a:defRPr sz="1700" b="0" i="0">
                <a:solidFill>
                  <a:srgbClr val="000000"/>
                </a:solidFill>
                <a:latin typeface="Georgia"/>
              </a:defRPr>
            </a:pPr>
            <a:r>
              <a:t>Next: larger multi-rater corpus, unrevised human sources, and learner-outcome validation.</a:t>
            </a:r>
          </a:p>
          <a:p>
            <a:pPr>
              <a:spcAft>
                <a:spcPts val="300"/>
              </a:spcAft>
              <a:defRPr sz="1700" b="0" i="0">
                <a:solidFill>
                  <a:srgbClr val="000000"/>
                </a:solidFill>
                <a:latin typeface="Georgia"/>
              </a:defRPr>
            </a:pPr>
            <a:r>
              <a:t>Talk to me about evals, epistemic safety, education models, or post-training.</a:t>
            </a:r>
          </a:p>
        </p:txBody>
      </p:sp>
      <p:sp>
        <p:nvSpPr>
          <p:cNvPr id="48" name="Google Shape;48;g3d82a0311f4_0_45"/>
          <p:cNvSpPr txBox="1"/>
          <p:nvPr/>
        </p:nvSpPr>
        <p:spPr>
          <a:xfrm>
            <a:off x="16198497" y="447800"/>
            <a:ext cx="1373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800"/>
              <a:buFont typeface="Arial"/>
              <a:buNone/>
              <a:defRPr sz="2300" b="1" i="0">
                <a:solidFill>
                  <a:srgbClr val="155F50"/>
                </a:solidFill>
                <a:latin typeface="Georgia"/>
              </a:defRPr>
            </a:pPr>
            <a:r>
              <a:t>Study design: discourse labels as an evaluation layer</a:t>
            </a:r>
            <a:endParaRPr b="0" i="0" sz="1400" u="none" cap="none" strike="noStrike">
              <a:solidFill>
                <a:srgbClr val="175E54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" name="Google Shape;49;g3d82a0311f4_0_45"/>
          <p:cNvSpPr txBox="1"/>
          <p:nvPr/>
        </p:nvSpPr>
        <p:spPr>
          <a:xfrm>
            <a:off x="576501" y="6824220"/>
            <a:ext cx="14396700" cy="7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800"/>
              <a:buFont typeface="Arial"/>
              <a:buNone/>
              <a:defRPr sz="2400" b="1" i="0">
                <a:solidFill>
                  <a:srgbClr val="000000"/>
                </a:solidFill>
                <a:latin typeface="Georgia"/>
              </a:defRPr>
            </a:pPr>
            <a:r>
              <a:t>Birds-eye view</a:t>
            </a:r>
            <a:endParaRPr b="0" i="0" sz="1400" u="none" cap="none" strike="noStrike">
              <a:solidFill>
                <a:srgbClr val="175E54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Correct answers can still be incomplete explanations for beginners.</a:t>
            </a: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Risk: fluent responses can invite overtrust when reasoning steps are hidden.</a:t>
            </a: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Dataset: 20 prompts, 60 explanations: 20 human and 40 AI.</a:t>
            </a: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Method: sentence-level discourse labels plus 1-5 quality ratings.</a:t>
            </a: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Reliability: kappa = 0.6706 on 72 overlap pairs.</a:t>
            </a:r>
          </a:p>
          <a:p>
            <a:pPr>
              <a:spcAft>
                <a:spcPts val="300"/>
              </a:spcAft>
              <a:defRPr sz="1800" b="0" i="0">
                <a:solidFill>
                  <a:srgbClr val="000000"/>
                </a:solidFill>
                <a:latin typeface="Georgia"/>
              </a:defRPr>
            </a:pPr>
            <a:r>
              <a:t>Baseline: keyword classifier reaches 70.6% accuracy and 0.575 macro-F1.</a:t>
            </a:r>
          </a:p>
        </p:txBody>
      </p:sp>
      <p:sp>
        <p:nvSpPr>
          <p:cNvPr id="52" name="Google Shape;52;g3d82a0311f4_0_45"/>
          <p:cNvSpPr/>
          <p:nvPr/>
        </p:nvSpPr>
        <p:spPr>
          <a:xfrm>
            <a:off x="11910182" y="203342"/>
            <a:ext cx="2676600" cy="200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32" lIns="45720" spcFirstLastPara="1" rIns="45720" wrap="square" tIns="27432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400"/>
              <a:buFont typeface="Arial"/>
              <a:buNone/>
              <a:defRPr sz="2400" b="1" i="0">
                <a:solidFill>
                  <a:srgbClr val="000000"/>
                </a:solidFill>
                <a:latin typeface="Georgia"/>
              </a:defRPr>
            </a:pPr>
            <a:r>
              <a:t>QR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300"/>
              </a:spcAft>
              <a:defRPr sz="1300" b="0" i="0">
                <a:solidFill>
                  <a:srgbClr val="000000"/>
                </a:solidFill>
                <a:latin typeface="Georgia"/>
              </a:defRPr>
            </a:pPr>
            <a:r>
              <a:t>paper / repo</a:t>
            </a:r>
          </a:p>
        </p:txBody>
      </p:sp>
      <p:sp>
        <p:nvSpPr>
          <p:cNvPr id="53" name="Google Shape;53;g3d82a0311f4_0_45"/>
          <p:cNvSpPr txBox="1"/>
          <p:nvPr/>
        </p:nvSpPr>
        <p:spPr>
          <a:xfrm>
            <a:off x="16230600" y="11201400"/>
            <a:ext cx="1371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45720" spcFirstLastPara="1" rIns="45720" wrap="square" tIns="27432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4800"/>
              <a:buFont typeface="Arial"/>
              <a:buNone/>
              <a:defRPr sz="2300" b="1" i="0">
                <a:solidFill>
                  <a:srgbClr val="155F50"/>
                </a:solidFill>
                <a:latin typeface="Georgia"/>
              </a:defRPr>
            </a:pPr>
            <a:r>
              <a:t>Key findings: correctness saturates; pedagogy separates</a:t>
            </a:r>
            <a:endParaRPr b="0" i="0" sz="1400" u="none" cap="none" strike="noStrike">
              <a:solidFill>
                <a:srgbClr val="175E54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4" name="Google Shape;54;g3d82a0311f4_0_45" title="HAISDS Logo_Colo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3100" y="19149800"/>
            <a:ext cx="13145457" cy="30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Rounded Rectangle 54"/>
          <p:cNvSpPr/>
          <p:nvPr/>
        </p:nvSpPr>
        <p:spPr>
          <a:xfrm>
            <a:off x="594360" y="9235440"/>
            <a:ext cx="4251960" cy="160020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Question</a:t>
            </a:r>
            <a:br/>
            <a:r>
              <a:t>Can a correct answer still be unsafe to learn from?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66360" y="9235440"/>
            <a:ext cx="4251960" cy="160020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Metric</a:t>
            </a:r>
            <a:br/>
            <a:r>
              <a:t>Does the explanation expose reasoning structure?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8360" y="9235440"/>
            <a:ext cx="4251960" cy="1600200"/>
          </a:xfrm>
          <a:prstGeom prst="roundRect">
            <a:avLst/>
          </a:prstGeom>
          <a:solidFill>
            <a:srgbClr val="8E23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Finding</a:t>
            </a:r>
            <a:br/>
            <a:r>
              <a:t>AI uses fewer intuition-building bridges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11292840"/>
            <a:ext cx="13395960" cy="1508760"/>
          </a:xfrm>
          <a:prstGeom prst="roundRect">
            <a:avLst/>
          </a:prstGeom>
          <a:solidFill>
            <a:srgbClr val="F5FAF9"/>
          </a:solidFill>
          <a:ln w="17780">
            <a:solidFill>
              <a:srgbClr val="155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Epistemic safety lens: fluent explanations can create confidence without giving students enough structure to detect gaps in understanding.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459200" y="2057400"/>
            <a:ext cx="3657600" cy="96012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20 intro physics prompts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0253960" y="2542032"/>
            <a:ext cx="868680" cy="0"/>
          </a:xfrm>
          <a:prstGeom prst="line">
            <a:avLst/>
          </a:prstGeom>
          <a:ln w="27940">
            <a:solidFill>
              <a:srgbClr val="155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1259800" y="2057400"/>
            <a:ext cx="3840480" cy="96012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Human + AI explanations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5237440" y="2542032"/>
            <a:ext cx="868680" cy="0"/>
          </a:xfrm>
          <a:prstGeom prst="line">
            <a:avLst/>
          </a:prstGeom>
          <a:ln w="27940">
            <a:solidFill>
              <a:srgbClr val="155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6243280" y="2057400"/>
            <a:ext cx="3840480" cy="96012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Sentence labels + ratings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459200" y="3520440"/>
            <a:ext cx="131673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defRPr sz="1800" b="1">
                <a:solidFill>
                  <a:srgbClr val="155F50"/>
                </a:solidFill>
                <a:latin typeface="Georgia"/>
              </a:defRPr>
            </a:pPr>
            <a:r>
              <a:t>Five labels used to audit explanation structure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6459200" y="4069080"/>
            <a:ext cx="2423160" cy="77724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FRAME</a:t>
            </a:r>
            <a:br/>
            <a:r>
              <a:t>sets up the physical situation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156680" y="4069080"/>
            <a:ext cx="2423160" cy="77724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PRINCIPLE</a:t>
            </a:r>
            <a:br/>
            <a:r>
              <a:t>states or applies a physics rule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854160" y="4069080"/>
            <a:ext cx="2423160" cy="777240"/>
          </a:xfrm>
          <a:prstGeom prst="roundRect">
            <a:avLst/>
          </a:prstGeom>
          <a:solidFill>
            <a:srgbClr val="136A5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VERIFY</a:t>
            </a:r>
            <a:br/>
            <a:r>
              <a:t>checks a conclusion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4551640" y="4069080"/>
            <a:ext cx="2423160" cy="777240"/>
          </a:xfrm>
          <a:prstGeom prst="roundRect">
            <a:avLst/>
          </a:prstGeom>
          <a:solidFill>
            <a:srgbClr val="8E23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INTUITION</a:t>
            </a:r>
            <a:br/>
            <a:r>
              <a:t>gives an analogy or example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249120" y="4069080"/>
            <a:ext cx="2423160" cy="777240"/>
          </a:xfrm>
          <a:prstGeom prst="roundRect">
            <a:avLst/>
          </a:prstGeom>
          <a:solidFill>
            <a:srgbClr val="8E23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t>CAVEAT</a:t>
            </a:r>
            <a:br/>
            <a:r>
              <a:t>marks assumptions or limits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6459200" y="5486400"/>
            <a:ext cx="4297680" cy="1005840"/>
          </a:xfrm>
          <a:prstGeom prst="roundRect">
            <a:avLst/>
          </a:prstGeom>
          <a:solidFill>
            <a:srgbClr val="2A78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Georgia"/>
              </a:defRPr>
            </a:pPr>
            <a:r>
              <a:t>Reliability</a:t>
            </a:r>
            <a:br/>
            <a:r>
              <a:t>kappa = 0.6706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305520" y="5486400"/>
            <a:ext cx="4297680" cy="1005840"/>
          </a:xfrm>
          <a:prstGeom prst="roundRect">
            <a:avLst/>
          </a:prstGeom>
          <a:solidFill>
            <a:srgbClr val="2A78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Georgia"/>
              </a:defRPr>
            </a:pPr>
            <a:r>
              <a:t>Baseline</a:t>
            </a:r>
            <a:br/>
            <a:r>
              <a:t>70.6% accuracy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151840" y="5486400"/>
            <a:ext cx="3840480" cy="1005840"/>
          </a:xfrm>
          <a:prstGeom prst="roundRect">
            <a:avLst/>
          </a:prstGeom>
          <a:solidFill>
            <a:srgbClr val="2A78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Georgia"/>
              </a:defRPr>
            </a:pPr>
            <a:r>
              <a:t>Pilot scope</a:t>
            </a:r>
            <a:br/>
            <a:r>
              <a:t>60 explanations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459200" y="7315200"/>
            <a:ext cx="13533120" cy="1965960"/>
          </a:xfrm>
          <a:prstGeom prst="rect">
            <a:avLst/>
          </a:prstGeom>
          <a:solidFill>
            <a:srgbClr val="E1F2F0"/>
          </a:solidFill>
          <a:ln>
            <a:solidFill>
              <a:srgbClr val="BE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700">
                <a:solidFill>
                  <a:srgbClr val="000000"/>
                </a:solidFill>
                <a:latin typeface="Georgia"/>
              </a:defRPr>
            </a:pPr>
            <a:r>
              <a:t>Safety framing: the target risk is misplaced learner confidence, not physical harm or hallucination. A fluent answer can be correct while omitting the conceptual bridge a beginner needs.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30600" y="12435840"/>
            <a:ext cx="6720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defRPr sz="1700" b="1">
                <a:solidFill>
                  <a:srgbClr val="155F50"/>
                </a:solidFill>
                <a:latin typeface="Georgia"/>
              </a:defRPr>
            </a:pPr>
            <a:r>
              <a:t>Move presence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59200" y="12938760"/>
            <a:ext cx="6309359" cy="2880360"/>
          </a:xfrm>
          <a:prstGeom prst="rect">
            <a:avLst/>
          </a:prstGeom>
          <a:solidFill>
            <a:srgbClr val="FAFCFC"/>
          </a:solidFill>
          <a:ln w="12700"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6459200" y="15099030"/>
            <a:ext cx="6309360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6459200" y="14378940"/>
            <a:ext cx="6309360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6459200" y="13658850"/>
            <a:ext cx="6309360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6459200" y="12938760"/>
            <a:ext cx="6309360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6848734" y="12938760"/>
            <a:ext cx="201168" cy="2880360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130369" y="12938760"/>
            <a:ext cx="201168" cy="28803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86632" y="15892272"/>
            <a:ext cx="1207007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FRAME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110606" y="12938760"/>
            <a:ext cx="201168" cy="2880360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392241" y="12938760"/>
            <a:ext cx="201168" cy="28803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748504" y="15892272"/>
            <a:ext cx="1207007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PRINC.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372478" y="13946886"/>
            <a:ext cx="201168" cy="1872234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654113" y="13658850"/>
            <a:ext cx="201168" cy="216027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010376" y="15892272"/>
            <a:ext cx="1207007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VERIFY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634350" y="14810994"/>
            <a:ext cx="201168" cy="1008125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0915985" y="15243048"/>
            <a:ext cx="201168" cy="57607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272248" y="15892272"/>
            <a:ext cx="1207007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INTUIT.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896222" y="14666976"/>
            <a:ext cx="201168" cy="1152144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177857" y="14666976"/>
            <a:ext cx="201168" cy="115214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534120" y="15892272"/>
            <a:ext cx="1207007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CAVEAT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13480" y="12847320"/>
            <a:ext cx="1097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defRPr sz="900" b="0">
                <a:solidFill>
                  <a:srgbClr val="5A5A5A"/>
                </a:solidFill>
                <a:latin typeface="Georgia"/>
              </a:defRPr>
            </a:pPr>
            <a:r>
              <a:t>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122640" y="12454128"/>
            <a:ext cx="411480" cy="201168"/>
          </a:xfrm>
          <a:prstGeom prst="roundRect">
            <a:avLst/>
          </a:prstGeom>
          <a:solidFill>
            <a:srgbClr val="2A78BD"/>
          </a:solidFill>
          <a:ln w="12700"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Georgia"/>
              </a:defRPr>
            </a:pPr>
            <a:r>
              <a:t>Human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1991320" y="12454128"/>
            <a:ext cx="411480" cy="201168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Georgia"/>
              </a:defRPr>
            </a:pPr>
            <a:r>
              <a:t>AI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225760" y="12435840"/>
            <a:ext cx="6720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defRPr sz="1700" b="1">
                <a:solidFill>
                  <a:srgbClr val="155F50"/>
                </a:solidFill>
                <a:latin typeface="Georgia"/>
              </a:defRPr>
            </a:pPr>
            <a:r>
              <a:t>Quality ratings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454360" y="12938760"/>
            <a:ext cx="6309359" cy="2880360"/>
          </a:xfrm>
          <a:prstGeom prst="rect">
            <a:avLst/>
          </a:prstGeom>
          <a:solidFill>
            <a:srgbClr val="FAFCFC"/>
          </a:solidFill>
          <a:ln w="12700"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3454360" y="15099030"/>
            <a:ext cx="6309359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3454360" y="14378940"/>
            <a:ext cx="6309359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3454360" y="13658850"/>
            <a:ext cx="6309359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3454360" y="12938760"/>
            <a:ext cx="6309359" cy="0"/>
          </a:xfrm>
          <a:prstGeom prst="line">
            <a:avLst/>
          </a:prstGeom>
          <a:ln w="8890">
            <a:solidFill>
              <a:srgbClr val="EBEF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24264518" y="12938760"/>
            <a:ext cx="201168" cy="2880360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4546153" y="13010769"/>
            <a:ext cx="201168" cy="2808351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481792" y="15892272"/>
            <a:ext cx="2048255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clarity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367638" y="12938760"/>
            <a:ext cx="201168" cy="2880360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649273" y="12938760"/>
            <a:ext cx="201168" cy="28803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5584912" y="15892272"/>
            <a:ext cx="2048255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correct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470758" y="12938760"/>
            <a:ext cx="201168" cy="2880360"/>
          </a:xfrm>
          <a:prstGeom prst="rect">
            <a:avLst/>
          </a:prstGeom>
          <a:solidFill>
            <a:srgbClr val="2A78BD"/>
          </a:solidFill>
          <a:ln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8752393" y="13514832"/>
            <a:ext cx="201168" cy="230428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7688032" y="15892272"/>
            <a:ext cx="2048255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900">
                <a:solidFill>
                  <a:srgbClr val="000000"/>
                </a:solidFill>
                <a:latin typeface="Georgia"/>
              </a:defRPr>
            </a:pPr>
            <a:r>
              <a:t>complete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408639" y="12847320"/>
            <a:ext cx="1097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defRPr sz="900" b="0">
                <a:solidFill>
                  <a:srgbClr val="5A5A5A"/>
                </a:solidFill>
                <a:latin typeface="Georgia"/>
              </a:defRPr>
            </a:pPr>
            <a:r>
              <a:t>1-5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8117800" y="12454128"/>
            <a:ext cx="411480" cy="201168"/>
          </a:xfrm>
          <a:prstGeom prst="roundRect">
            <a:avLst/>
          </a:prstGeom>
          <a:solidFill>
            <a:srgbClr val="2A78BD"/>
          </a:solidFill>
          <a:ln w="12700">
            <a:solidFill>
              <a:srgbClr val="2A78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Georgia"/>
              </a:defRPr>
            </a:pPr>
            <a:r>
              <a:t>Human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8986480" y="12454128"/>
            <a:ext cx="411480" cy="201168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Georgia"/>
              </a:defRPr>
            </a:pPr>
            <a:r>
              <a:t>AI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6230600" y="16779240"/>
            <a:ext cx="13716000" cy="2148840"/>
          </a:xfrm>
          <a:prstGeom prst="roundRect">
            <a:avLst/>
          </a:prstGeom>
          <a:solidFill>
            <a:srgbClr val="F5FAF9"/>
          </a:solidFill>
          <a:ln w="19050">
            <a:solidFill>
              <a:srgbClr val="155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rm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Georgia"/>
              </a:defRPr>
            </a:pPr>
            <a:r>
              <a:t>Takeaway: AI explanations matched human explanations on correctness, but had lower intuition-bridging coverage (20% vs 35%) and lower completeness ratings (4.0 vs 5.0).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